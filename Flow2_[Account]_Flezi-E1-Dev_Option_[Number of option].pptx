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4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65" r:id="rId7"/>
    <p:sldId id="273" r:id="rId8"/>
    <p:sldId id="260" r:id="rId9"/>
    <p:sldId id="262" r:id="rId10"/>
    <p:sldId id="268" r:id="rId11"/>
    <p:sldId id="270" r:id="rId12"/>
    <p:sldId id="271" r:id="rId13"/>
    <p:sldId id="272" r:id="rId14"/>
  </p:sldIdLst>
  <p:sldSz cx="12192000" cy="6858000"/>
  <p:notesSz cx="6858000" cy="12192000"/>
  <p:defaultTextStyle>
    <a:defPPr>
      <a:defRPr lang="en-US"/>
    </a:defPPr>
    <a:lvl1pPr marL="0" algn="l">
      <a:defRPr lang="en-US" sz="1800"/>
    </a:lvl1pPr>
    <a:lvl2pPr marL="457200">
      <a:defRPr lang="en-US" sz="1800"/>
    </a:lvl2pPr>
    <a:lvl3pPr marL="914400">
      <a:defRPr lang="en-US" sz="1800"/>
    </a:lvl3pPr>
    <a:lvl4pPr marL="1371600">
      <a:defRPr lang="en-US" sz="1800"/>
    </a:lvl4pPr>
    <a:lvl5pPr marL="1828800">
      <a:defRPr lang="en-US" sz="1800"/>
    </a:lvl5pPr>
    <a:lvl6pPr marL="2286000">
      <a:defRPr lang="en-US" sz="1800"/>
    </a:lvl6pPr>
    <a:lvl7pPr marL="2743200">
      <a:defRPr lang="en-US" sz="1800"/>
    </a:lvl7pPr>
    <a:lvl8pPr marL="3200400">
      <a:defRPr lang="en-US" sz="1800"/>
    </a:lvl8pPr>
    <a:lvl9pPr marL="3657600">
      <a:defRPr lang="en-US" sz="1800"/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84260F-B066-5D93-8BBB-BC6DB21C8A0F}" name="An Tran Viet" initials="ATV" userId="S::AnTV6@fpt.com::9967e1e4-d607-473b-8a14-895139bffb32" providerId="AD"/>
  <p188:author id="{1BA9338D-99E1-70E4-7C91-9BC335E4CF35}" name="An Tran Viet" initials="AV" userId="S::antv6@fpt.com::9967e1e4-d607-473b-8a14-895139bffb3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E76CE94A-587E-4593-BEF5-B860AB025F02}">
      <p14:discardImageEditData xmlns="" xmlns:p14="http://schemas.microsoft.com/office/powerpoint/2010/main" xmlns:p15="http://schemas.microsoft.com/office/powerpoint/2012/main" val="0"/>
    </p:ext>
    <p:ext uri="{FD5EFAAD-0ECE-453E-9843-8895EB03D42C}">
      <p15:chartTrackingRefBased xmlns="" xmlns:p14="http://schemas.microsoft.com/office/powerpoint/2010/main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98" dt="2026-09-22T09:26:03.677"/>
    <p1510:client id="{189592A7-46C4-F84F-4054-2E5857AE7F8B}" v="27" dt="2026-09-22T09:59:29.869"/>
    <p1510:client id="{4320B030-85D2-491F-BBC0-259CAF80769D}" v="3" dt="2026-09-23T06:37:04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1582DD-FDB8-485E-9EF5-6DADCE5151BD}" authorId="{1BA9338D-99E1-70E4-7C91-9BC335E4CF35}" status="resolved" created="2026-09-17T03:48:43.106" complete="100000">
    <pc:sldMkLst xmlns:pc="http://schemas.microsoft.com/office/powerpoint/2013/main/command">
      <pc:docMk/>
      <pc:sldMk cId="0" sldId="260"/>
    </pc:sldMkLst>
    <p188:replyLst>
      <p188:reply id="{802DDC89-DF00-4541-9063-2B09A58DA48F}" authorId="{B284260F-B066-5D93-8BBB-BC6DB21C8A0F}" created="2026-09-17T04:21:52.915">
        <p188:txBody>
          <a:bodyPr/>
          <a:lstStyle/>
          <a:p>
            <a:r>
              <a:rPr lang="en-US"/>
              <a:t>Added a sample chat-session screenshot on this slide. Swap in the real capture when available.</a:t>
            </a:r>
          </a:p>
        </p188:txBody>
      </p188:reply>
    </p188:replyLst>
    <p188:txBody>
      <a:bodyPr/>
      <a:lstStyle/>
      <a:p>
        <a:r>
          <a:rPr lang="en-US"/>
          <a:t>Add a sample image of evidence of a Chat history with agents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914400"/>
            <a:ext cx="5943600" cy="33528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572000"/>
            <a:ext cx="5943600" cy="7163400"/>
          </a:xfrm>
          <a:prstGeom prst="rect">
            <a:avLst/>
          </a:prstGeom>
        </p:spPr>
        <p:txBody>
          <a:bodyPr/>
          <a:lstStyle>
            <a:lvl1pPr>
              <a:defRPr lang="en-US" sz="1200"/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defPPr>
      <a:defRPr lang="en-US"/>
    </a:defPPr>
    <a:lvl1pPr marL="0" algn="l">
      <a:defRPr lang="en-US" sz="1200"/>
    </a:lvl1pPr>
    <a:lvl2pPr marL="457200">
      <a:defRPr lang="en-US" sz="1200"/>
    </a:lvl2pPr>
    <a:lvl3pPr marL="914400">
      <a:defRPr lang="en-US" sz="1200"/>
    </a:lvl3pPr>
    <a:lvl4pPr marL="1371600">
      <a:defRPr lang="en-US" sz="1200"/>
    </a:lvl4pPr>
    <a:lvl5pPr marL="1828800">
      <a:defRPr lang="en-US" sz="1200"/>
    </a:lvl5pPr>
    <a:lvl6pPr marL="2286000">
      <a:defRPr lang="en-US" sz="1200"/>
    </a:lvl6pPr>
    <a:lvl7pPr marL="2743200">
      <a:defRPr lang="en-US" sz="1200"/>
    </a:lvl7pPr>
    <a:lvl8pPr marL="3200400">
      <a:defRPr lang="en-US" sz="1200"/>
    </a:lvl8pPr>
    <a:lvl9pPr marL="3657600">
      <a:defRPr lang="en-US" sz="1200"/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 the project and final results.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>
          <a:xfrm>
            <a:off x="449263" y="914400"/>
            <a:ext cx="5959475" cy="3352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real artifact.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55C8A-C6E1-0C2D-1853-FB99DEB6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>
            <a:extLst>
              <a:ext uri="{FF2B5EF4-FFF2-40B4-BE49-F238E27FC236}">
                <a16:creationId xmlns:a16="http://schemas.microsoft.com/office/drawing/2014/main" id="{9DD7EF66-E9C1-45B2-BF12-F23C0ECE5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49263" y="914400"/>
            <a:ext cx="5959475" cy="33528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C4D12-2600-A7A6-0268-AE737450B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real artifact.</a:t>
            </a:r>
          </a:p>
        </p:txBody>
      </p:sp>
    </p:spTree>
    <p:extLst>
      <p:ext uri="{BB962C8B-B14F-4D97-AF65-F5344CB8AC3E}">
        <p14:creationId xmlns:p14="http://schemas.microsoft.com/office/powerpoint/2010/main" val="2090216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>
          <a:xfrm>
            <a:off x="449263" y="914400"/>
            <a:ext cx="5959475" cy="3352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Paste one representative prompt verbatim and explain its structure.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>
          <a:xfrm>
            <a:off x="449263" y="914400"/>
            <a:ext cx="5959475" cy="3352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your sign-off visible.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>
          <a:xfrm>
            <a:off x="449263" y="914400"/>
            <a:ext cx="5959475" cy="3352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Report actual consumption and meaningful spending decisions.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Turn the work into a repeatable governed workflow.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 only if an MCP was actually used.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pass requires 70+ and no Level 1 criterion.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>
        <a:defRPr lang="en-US">
          <a:solidFill>
            <a:srgbClr val="0B2545"/>
          </a:solidFill>
          <a:latin typeface="Trebuchet MS"/>
        </a:defRPr>
      </a:lvl1pPr>
    </p:titleStyle>
    <p:bodyStyle>
      <a:lvl1pPr>
        <a:defRPr lang="en-US">
          <a:solidFill>
            <a:srgbClr val="0B2545"/>
          </a:solidFill>
          <a:latin typeface="Calibri"/>
        </a:defRPr>
      </a:lvl1pPr>
    </p:bodyStyle>
    <p:otherStyle>
      <a:lvl1pPr>
        <a:defRPr lang="en-US">
          <a:solidFill>
            <a:srgbClr val="0B2545"/>
          </a:solidFill>
          <a:latin typeface="Calibr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31086"/>
            <a:ext cx="11277600" cy="137160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ctr"/>
            <a:r>
              <a:rPr lang="en-US" sz="3600" b="1">
                <a:solidFill>
                  <a:srgbClr val="028090"/>
                </a:solidFill>
                <a:latin typeface="Trebuchet MS"/>
              </a:rPr>
              <a:t>Flow-2 AI Execution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57200" y="3431286"/>
            <a:ext cx="11277600" cy="68580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ctr"/>
            <a:r>
              <a:rPr lang="en-US" sz="2000">
                <a:solidFill>
                  <a:srgbClr val="0B2545"/>
                </a:solidFill>
                <a:latin typeface="Calibri"/>
              </a:rPr>
              <a:t>Report Deck Template | [Account] · [Role] · Option [N] · [Date]</a:t>
            </a:r>
          </a:p>
        </p:txBody>
      </p:sp>
      <p:sp>
        <p:nvSpPr>
          <p:cNvPr id="4" name="Headline Takeaway"/>
          <p:cNvSpPr>
            <a:spLocks noGrp="1"/>
          </p:cNvSpPr>
          <p:nvPr/>
        </p:nvSpPr>
        <p:spPr>
          <a:xfrm>
            <a:off x="457200" y="4345686"/>
            <a:ext cx="11277600" cy="68580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ctr"/>
            <a:r>
              <a:rPr lang="en-US" sz="2400" b="1">
                <a:solidFill>
                  <a:srgbClr val="028090"/>
                </a:solidFill>
                <a:latin typeface="Calibri"/>
              </a:rPr>
              <a:t>Replace bracketed placeholders and add legible, redacted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Trebuchet MS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</p:spPr>
        <p:txBody>
          <a:bodyPr vert="horz" wrap="square" rtlCol="0" anchor="t">
            <a:normAutofit/>
          </a:bodyPr>
          <a:lstStyle/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Task: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[chosen option and objective]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Outcome: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[deliverable and value]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Credits used: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[actual / 250]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Key learning: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[one insight about directing AI]</a:t>
            </a:r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Output Evidence</a:t>
            </a:r>
            <a:endParaRPr lang="en-US" dirty="0"/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D6D03-30B0-F327-7316-1125949AAF13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11277600" cy="4572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lvl1pPr>
              <a:defRPr lang="en-US">
                <a:solidFill>
                  <a:srgbClr val="0B2545"/>
                </a:solidFill>
                <a:latin typeface="Calibri"/>
              </a:defRPr>
            </a:lvl1pPr>
          </a:lstStyle>
          <a:p>
            <a:pPr marL="364490" indent="-199390">
              <a:buFont typeface="Arial"/>
              <a:buChar char="•"/>
            </a:pPr>
            <a:r>
              <a:rPr lang="en-US" b="1" dirty="0">
                <a:ea typeface="Calibri"/>
                <a:cs typeface="Calibri"/>
              </a:rPr>
              <a:t>Example: completed source code</a:t>
            </a:r>
          </a:p>
        </p:txBody>
      </p:sp>
      <p:pic>
        <p:nvPicPr>
          <p:cNvPr id="3" name="Picture 2" descr="vscode.dev(!)">
            <a:extLst>
              <a:ext uri="{FF2B5EF4-FFF2-40B4-BE49-F238E27FC236}">
                <a16:creationId xmlns:a16="http://schemas.microsoft.com/office/drawing/2014/main" id="{FD3687E7-6D94-7565-A59A-F4DCFE7C4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3314"/>
            <a:ext cx="8270239" cy="5008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FE6EC-B7D2-F803-5F6E-EA4E3096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>
            <a:extLst>
              <a:ext uri="{FF2B5EF4-FFF2-40B4-BE49-F238E27FC236}">
                <a16:creationId xmlns:a16="http://schemas.microsoft.com/office/drawing/2014/main" id="{2EF3B8E3-5914-A368-DC08-BCBC85AD6C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Output Evidence</a:t>
            </a:r>
            <a:endParaRPr lang="en-US" dirty="0"/>
          </a:p>
        </p:txBody>
      </p:sp>
      <p:sp>
        <p:nvSpPr>
          <p:cNvPr id="100" name="Running Footer">
            <a:extLst>
              <a:ext uri="{FF2B5EF4-FFF2-40B4-BE49-F238E27FC236}">
                <a16:creationId xmlns:a16="http://schemas.microsoft.com/office/drawing/2014/main" id="{FD4504C4-071D-DDEA-7F06-2D90BE81F8B2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>
            <a:extLst>
              <a:ext uri="{FF2B5EF4-FFF2-40B4-BE49-F238E27FC236}">
                <a16:creationId xmlns:a16="http://schemas.microsoft.com/office/drawing/2014/main" id="{E3248B6C-F500-347D-8A79-5707383AE4EA}"/>
              </a:ext>
            </a:extLst>
          </p:cNvPr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2F90E-1B1E-988A-4BA2-5D70BB39599D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11277600" cy="4572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lvl1pPr>
              <a:defRPr lang="en-US">
                <a:solidFill>
                  <a:srgbClr val="0B2545"/>
                </a:solidFill>
                <a:latin typeface="Calibri"/>
              </a:defRPr>
            </a:lvl1pPr>
          </a:lstStyle>
          <a:p>
            <a:pPr marL="364490" indent="-199390">
              <a:buFont typeface="Arial"/>
              <a:buChar char="•"/>
            </a:pPr>
            <a:r>
              <a:rPr lang="en-US" b="1" dirty="0">
                <a:ea typeface="Calibri"/>
                <a:cs typeface="Calibri"/>
              </a:rPr>
              <a:t>Example: App UI</a:t>
            </a:r>
          </a:p>
        </p:txBody>
      </p:sp>
      <p:pic>
        <p:nvPicPr>
          <p:cNvPr id="4" name="Picture 3" descr="Minimal Login &amp; Register Template with Smooth Animations">
            <a:extLst>
              <a:ext uri="{FF2B5EF4-FFF2-40B4-BE49-F238E27FC236}">
                <a16:creationId xmlns:a16="http://schemas.microsoft.com/office/drawing/2014/main" id="{0ABCC900-51B2-E057-88ED-B08507D2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8" y="1553845"/>
            <a:ext cx="7317105" cy="47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7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Trebuchet MS"/>
              </a:rPr>
              <a:t>AI Chat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11277600" cy="4572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165100">
              <a:lnSpc>
                <a:spcPct val="130000"/>
              </a:lnSpc>
              <a:spcAft>
                <a:spcPts val="600"/>
              </a:spcAft>
            </a:pPr>
            <a:r>
              <a:rPr lang="en-US">
                <a:ea typeface="Calibri"/>
                <a:cs typeface="Calibri"/>
              </a:rPr>
              <a:t>Example chat session – structured prompt and the agent’s executed actions (add more slides for entire chat sessions)</a:t>
            </a:r>
          </a:p>
        </p:txBody>
      </p:sp>
      <p:sp>
        <p:nvSpPr>
          <p:cNvPr id="206" name="Action Buttons"/>
          <p:cNvSpPr/>
          <p:nvPr/>
        </p:nvSpPr>
        <p:spPr>
          <a:xfrm>
            <a:off x="8300200" y="5220200"/>
            <a:ext cx="1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45720" rIns="137160" bIns="45720" rtlCol="0" anchor="ctr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900" b="0" i="0">
                <a:solidFill>
                  <a:srgbClr val="D4D4D4"/>
                </a:solidFill>
                <a:latin typeface="Segoe UI"/>
              </a:rPr>
              <a:t>Undo        Review</a:t>
            </a:r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A319E-83E5-257A-01C4-C8B3EB3DD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51" y="1525030"/>
            <a:ext cx="8334375" cy="434340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AI Chat</a:t>
            </a:r>
            <a:endParaRPr lang="en-US" sz="2800" dirty="0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11277600" cy="4572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165100">
              <a:lnSpc>
                <a:spcPct val="130000"/>
              </a:lnSpc>
              <a:spcAft>
                <a:spcPts val="600"/>
              </a:spcAft>
            </a:pPr>
            <a:r>
              <a:rPr lang="en-US">
                <a:ea typeface="Calibri"/>
                <a:cs typeface="Calibri"/>
              </a:rPr>
              <a:t>Example session – the agent pauses for human approval before a destructive step </a:t>
            </a:r>
            <a:endParaRPr lang="en-US"/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9E69E-B1FF-EEFA-7678-969E3D6CE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8" y="1524318"/>
            <a:ext cx="8277225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Credit/Token after the task is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165100" lvl="0">
              <a:lnSpc>
                <a:spcPct val="130000"/>
              </a:lnSpc>
              <a:spcAft>
                <a:spcPts val="600"/>
              </a:spcAft>
            </a:pPr>
            <a:endParaRPr lang="en-US" sz="1800">
              <a:solidFill>
                <a:srgbClr val="0B25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58584-D0F7-B91A-E2CF-7BC35595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2" y="1138521"/>
            <a:ext cx="10657702" cy="4344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Reusable workflow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</p:spPr>
        <p:txBody>
          <a:bodyPr vert="horz" wrap="square" rtlCol="0" anchor="t">
            <a:normAutofit/>
          </a:bodyPr>
          <a:lstStyle/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1. [Trigger / input]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2. [Prompt and context preparation]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3. [AI action with chosen mode/model]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4. [Human review gate]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5. [Verification and hand-off]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Reuse conditions: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[real-project applicability]</a:t>
            </a:r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MCP usage proof (Optional bonus)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</p:spPr>
        <p:txBody>
          <a:bodyPr vert="horz" wrap="square" rtlCol="0" anchor="t">
            <a:normAutofit/>
          </a:bodyPr>
          <a:lstStyle/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Server: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[name]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Tool call: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[name]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Input: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[redacted summary]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Result: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[outcome]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Evidence: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[screenshot/log]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 b="1">
                <a:solidFill>
                  <a:srgbClr val="0B2545"/>
                </a:solidFill>
                <a:latin typeface="Calibri"/>
              </a:rPr>
              <a:t>Value:</a:t>
            </a:r>
            <a:r>
              <a:rPr lang="en-US" sz="1800">
                <a:solidFill>
                  <a:srgbClr val="0B2545"/>
                </a:solidFill>
                <a:latin typeface="Calibri"/>
              </a:rPr>
              <a:t> [why it improved the task]</a:t>
            </a:r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2545"/>
          </a:solidFill>
        </p:spPr>
        <p:txBody>
          <a:bodyPr vert="horz" wrap="square" lIns="342900" tIns="45720" rIns="342900" bIns="45720" rtlCol="0"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Trebuchet MS"/>
              </a:rPr>
              <a:t>Final self-check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</p:spPr>
        <p:txBody>
          <a:bodyPr vert="horz" wrap="square" rtlCol="0" anchor="t">
            <a:normAutofit/>
          </a:bodyPr>
          <a:lstStyle/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Every option requirement is satisfied and evidenced.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3+ visible examples show AI correction or rejection.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Mode, model tier, and MCP choice are justified.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Every substantive chat session is labelled and submitted.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Screenshots are readable and sensitive data is redacted.</a:t>
            </a:r>
          </a:p>
          <a:p>
            <a:pPr marL="365100" lvl="0" indent="-20000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lang="en-US" sz="1800">
                <a:solidFill>
                  <a:srgbClr val="0B2545"/>
                </a:solidFill>
                <a:latin typeface="Calibri"/>
              </a:rPr>
              <a:t>Credit use is reported; no out-of-scope model was used.</a:t>
            </a:r>
          </a:p>
        </p:txBody>
      </p:sp>
      <p:sp>
        <p:nvSpPr>
          <p:cNvPr id="100" name="Running Footer"/>
          <p:cNvSpPr>
            <a:spLocks noGrp="1"/>
          </p:cNvSpPr>
          <p:nvPr/>
        </p:nvSpPr>
        <p:spPr>
          <a:xfrm>
            <a:off x="457200" y="6492240"/>
            <a:ext cx="1018032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l"/>
            <a:r>
              <a:rPr lang="en-US" sz="1000">
                <a:solidFill>
                  <a:srgbClr val="5B6B7C"/>
                </a:solidFill>
                <a:latin typeface="Calibri"/>
              </a:rPr>
              <a:t>Flow-2 AI Execution Report</a:t>
            </a:r>
          </a:p>
        </p:txBody>
      </p:sp>
      <p:sp>
        <p:nvSpPr>
          <p:cNvPr id="101" name="Running Footer Page Number"/>
          <p:cNvSpPr>
            <a:spLocks noGrp="1"/>
          </p:cNvSpPr>
          <p:nvPr/>
        </p:nvSpPr>
        <p:spPr>
          <a:xfrm>
            <a:off x="10637520" y="6492240"/>
            <a:ext cx="1097280" cy="274320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pPr algn="r"/>
            <a:r>
              <a:rPr lang="en-US" sz="1000">
                <a:solidFill>
                  <a:srgbClr val="5B6B7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2545"/>
      </a:dk1>
      <a:lt1>
        <a:srgbClr val="FFFFFF"/>
      </a:lt1>
      <a:dk2>
        <a:srgbClr val="1F3864"/>
      </a:dk2>
      <a:lt2>
        <a:srgbClr val="E2E8F0"/>
      </a:lt2>
      <a:accent1>
        <a:srgbClr val="028090"/>
      </a:accent1>
      <a:accent2>
        <a:srgbClr val="02C39A"/>
      </a:accent2>
      <a:accent3>
        <a:srgbClr val="059669"/>
      </a:accent3>
      <a:accent4>
        <a:srgbClr val="D97706"/>
      </a:accent4>
      <a:accent5>
        <a:srgbClr val="DC2626"/>
      </a:accent5>
      <a:accent6>
        <a:srgbClr val="0891B2"/>
      </a:accent6>
      <a:hlink>
        <a:srgbClr val="028090"/>
      </a:hlink>
      <a:folHlink>
        <a:srgbClr val="02C39A"/>
      </a:folHlink>
    </a:clrScheme>
    <a:fontScheme name="Office">
      <a:majorFont>
        <a:latin typeface="Trebuchet M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B2545"/>
      </a:dk1>
      <a:lt1>
        <a:srgbClr val="FFFFFF"/>
      </a:lt1>
      <a:dk2>
        <a:srgbClr val="1F3864"/>
      </a:dk2>
      <a:lt2>
        <a:srgbClr val="E2E8F0"/>
      </a:lt2>
      <a:accent1>
        <a:srgbClr val="028090"/>
      </a:accent1>
      <a:accent2>
        <a:srgbClr val="02C39A"/>
      </a:accent2>
      <a:accent3>
        <a:srgbClr val="059669"/>
      </a:accent3>
      <a:accent4>
        <a:srgbClr val="D97706"/>
      </a:accent4>
      <a:accent5>
        <a:srgbClr val="DC2626"/>
      </a:accent5>
      <a:accent6>
        <a:srgbClr val="0891B2"/>
      </a:accent6>
      <a:hlink>
        <a:srgbClr val="028090"/>
      </a:hlink>
      <a:folHlink>
        <a:srgbClr val="02C39A"/>
      </a:folHlink>
    </a:clrScheme>
    <a:fontScheme name="Office">
      <a:majorFont>
        <a:latin typeface="Trebuchet M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8CF09F394974384566E65EE47413A" ma:contentTypeVersion="16" ma:contentTypeDescription="Create a new document." ma:contentTypeScope="" ma:versionID="31012613ea7692665bc7336eb9c74293">
  <xsd:schema xmlns:xsd="http://www.w3.org/2001/XMLSchema" xmlns:xs="http://www.w3.org/2001/XMLSchema" xmlns:p="http://schemas.microsoft.com/office/2006/metadata/properties" xmlns:ns1="http://schemas.microsoft.com/sharepoint/v3" xmlns:ns2="fdf7c76c-27fb-4e64-a31b-b327cd9dae2a" xmlns:ns3="14d22854-e306-478f-bdc8-d341a49ba7cf" targetNamespace="http://schemas.microsoft.com/office/2006/metadata/properties" ma:root="true" ma:fieldsID="8bcfc8524f60c3336112e560018a872f" ns1:_="" ns2:_="" ns3:_="">
    <xsd:import namespace="http://schemas.microsoft.com/sharepoint/v3"/>
    <xsd:import namespace="fdf7c76c-27fb-4e64-a31b-b327cd9dae2a"/>
    <xsd:import namespace="14d22854-e306-478f-bdc8-d341a49ba7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7c76c-27fb-4e64-a31b-b327cd9da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d22854-e306-478f-bdc8-d341a49ba7c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ea1e68-4573-45f1-999c-2bd3829cc08b}" ma:internalName="TaxCatchAll" ma:showField="CatchAllData" ma:web="14d22854-e306-478f-bdc8-d341a49ba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14d22854-e306-478f-bdc8-d341a49ba7cf" xsi:nil="true"/>
    <lcf76f155ced4ddcb4097134ff3c332f xmlns="fdf7c76c-27fb-4e64-a31b-b327cd9dae2a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9A259E8-959C-401F-9C36-72E25AA76BD6}">
  <ds:schemaRefs>
    <ds:schemaRef ds:uri="14d22854-e306-478f-bdc8-d341a49ba7cf"/>
    <ds:schemaRef ds:uri="fdf7c76c-27fb-4e64-a31b-b327cd9dae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935DA6-2E26-4DE7-A444-2A40C265D1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49B682-6566-48B3-8F5D-77A156F8609D}">
  <ds:schemaRefs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14d22854-e306-478f-bdc8-d341a49ba7cf"/>
    <ds:schemaRef ds:uri="fdf7c76c-27fb-4e64-a31b-b327cd9dae2a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Microsoft Office PowerPoint</Application>
  <PresentationFormat>Widescreen</PresentationFormat>
  <Paragraphs>71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Flow-2 AI Execution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Long Nguyen Phi</dc:creator>
  <cp:lastModifiedBy>Long Nguyen Phi</cp:lastModifiedBy>
  <cp:revision>84</cp:revision>
  <dcterms:created xsi:type="dcterms:W3CDTF">2026-09-23T06:46:57Z</dcterms:created>
  <dcterms:modified xsi:type="dcterms:W3CDTF">2026-09-25T07:23:07Z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0x0101004528CF09F394974384566E65EE47413A</vt:lpwstr>
  </property>
  <property fmtid="{D5CDD505-2E9C-101B-9397-08002B2CF9AE}" pid="3" name="MediaServiceImageTags">
    <vt:lpwstr/>
  </property>
</Properties>
</file>